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5" r:id="rId4"/>
    <p:sldId id="266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7" r:id="rId13"/>
    <p:sldId id="268" r:id="rId14"/>
    <p:sldId id="269" r:id="rId15"/>
    <p:sldId id="270" r:id="rId16"/>
    <p:sldId id="271" r:id="rId17"/>
  </p:sldIdLst>
  <p:sldSz cx="12801600" cy="9601200" type="A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DDBB20-48AD-4FA0-81C5-A0D04CA145ED}" v="7" dt="2025-11-25T09:08:37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B223F1012616423/BrightTV_joined(in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B223F1012616423/BrightTV_joined(in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B223F1012616423/BrightTV_joined(in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B223F1012616423/BrightTV_joined(in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B223F1012616423/BrightTV_joined(in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B223F1012616423/BrightTV_joined(in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B223F1012616423/BrightTV_joined(in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B223F1012616423/BrightTV_joined(in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B223F1012616423/BrightTV_joined(in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[BrightTV_joined(in).xlsx]Pivot Tables and Graphs!PivotTable2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/>
              <a:t>Viewership Distribution by Race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000000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2041664123535156"/>
              <c:y val="-5.7638910081651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24124997456868488"/>
              <c:y val="-5.555576748318184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5625"/>
              <c:y val="0.101388931274413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3249994913736976"/>
              <c:y val="5.833339691162109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5583330790201824"/>
              <c:y val="-2.499993642171223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6875000000000004"/>
              <c:y val="-7.083331214057074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2574999491373699"/>
              <c:y val="-0.1145833333333333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24124997456868488"/>
              <c:y val="-5.555576748318184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2041664123535156"/>
              <c:y val="-5.7638910081651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5625"/>
              <c:y val="0.101388931274413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3249994913736976"/>
              <c:y val="5.833339691162109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5583330790201824"/>
              <c:y val="-2.499993642171223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6875000000000004"/>
              <c:y val="-7.083331214057074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2574999491373699"/>
              <c:y val="-0.1145833333333333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24124997456868488"/>
              <c:y val="-5.5555767483181848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2041664123535156"/>
              <c:y val="-5.7638910081651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5625"/>
              <c:y val="0.101388931274413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3249994913736976"/>
              <c:y val="5.833339691162109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5583330790201824"/>
              <c:y val="-2.4999936421712238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16875000000000004"/>
              <c:y val="-7.0833312140570745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rgbClr val="637CEF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0.2574999491373699"/>
              <c:y val="-0.1145833333333333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'Pivot Tables and Graphs'!$B$7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637CE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EE6-43DC-8FC5-F085C0CBE941}"/>
              </c:ext>
            </c:extLst>
          </c:dPt>
          <c:dPt>
            <c:idx val="1"/>
            <c:bubble3D val="0"/>
            <c:spPr>
              <a:solidFill>
                <a:srgbClr val="E3008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EE6-43DC-8FC5-F085C0CBE941}"/>
              </c:ext>
            </c:extLst>
          </c:dPt>
          <c:dPt>
            <c:idx val="2"/>
            <c:bubble3D val="0"/>
            <c:spPr>
              <a:solidFill>
                <a:srgbClr val="2AA0A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EE6-43DC-8FC5-F085C0CBE941}"/>
              </c:ext>
            </c:extLst>
          </c:dPt>
          <c:dPt>
            <c:idx val="3"/>
            <c:bubble3D val="0"/>
            <c:spPr>
              <a:solidFill>
                <a:srgbClr val="9373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EE6-43DC-8FC5-F085C0CBE941}"/>
              </c:ext>
            </c:extLst>
          </c:dPt>
          <c:dPt>
            <c:idx val="4"/>
            <c:bubble3D val="0"/>
            <c:spPr>
              <a:solidFill>
                <a:srgbClr val="13A10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EE6-43DC-8FC5-F085C0CBE941}"/>
              </c:ext>
            </c:extLst>
          </c:dPt>
          <c:dPt>
            <c:idx val="5"/>
            <c:bubble3D val="0"/>
            <c:spPr>
              <a:solidFill>
                <a:srgbClr val="3A96D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EE6-43DC-8FC5-F085C0CBE941}"/>
              </c:ext>
            </c:extLst>
          </c:dPt>
          <c:dPt>
            <c:idx val="6"/>
            <c:bubble3D val="0"/>
            <c:spPr>
              <a:solidFill>
                <a:srgbClr val="CA501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BEE6-43DC-8FC5-F085C0CBE941}"/>
              </c:ext>
            </c:extLst>
          </c:dPt>
          <c:dLbls>
            <c:dLbl>
              <c:idx val="0"/>
              <c:layout>
                <c:manualLayout>
                  <c:x val="0.24124997456868488"/>
                  <c:y val="-5.555576748318184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EE6-43DC-8FC5-F085C0CBE941}"/>
                </c:ext>
              </c:extLst>
            </c:dLbl>
            <c:dLbl>
              <c:idx val="1"/>
              <c:layout>
                <c:manualLayout>
                  <c:x val="0.12041664123535156"/>
                  <c:y val="-5.7638910081651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EE6-43DC-8FC5-F085C0CBE941}"/>
                </c:ext>
              </c:extLst>
            </c:dLbl>
            <c:dLbl>
              <c:idx val="2"/>
              <c:layout>
                <c:manualLayout>
                  <c:x val="0.15625"/>
                  <c:y val="0.101388931274413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EE6-43DC-8FC5-F085C0CBE941}"/>
                </c:ext>
              </c:extLst>
            </c:dLbl>
            <c:dLbl>
              <c:idx val="3"/>
              <c:layout>
                <c:manualLayout>
                  <c:x val="-0.13249994913736976"/>
                  <c:y val="5.83333969116210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EE6-43DC-8FC5-F085C0CBE941}"/>
                </c:ext>
              </c:extLst>
            </c:dLbl>
            <c:dLbl>
              <c:idx val="4"/>
              <c:layout>
                <c:manualLayout>
                  <c:x val="-0.15583330790201824"/>
                  <c:y val="-2.499993642171223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EE6-43DC-8FC5-F085C0CBE941}"/>
                </c:ext>
              </c:extLst>
            </c:dLbl>
            <c:dLbl>
              <c:idx val="5"/>
              <c:layout>
                <c:manualLayout>
                  <c:x val="-0.16875000000000004"/>
                  <c:y val="-7.08333121405707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EE6-43DC-8FC5-F085C0CBE941}"/>
                </c:ext>
              </c:extLst>
            </c:dLbl>
            <c:dLbl>
              <c:idx val="6"/>
              <c:layout>
                <c:manualLayout>
                  <c:x val="-0.2574999491373699"/>
                  <c:y val="-0.1145833333333333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EE6-43DC-8FC5-F085C0CBE94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 Tables and Graphs'!$A$8:$A$15</c:f>
              <c:strCache>
                <c:ptCount val="7"/>
                <c:pt idx="0">
                  <c:v> </c:v>
                </c:pt>
                <c:pt idx="1">
                  <c:v>BLACK</c:v>
                </c:pt>
                <c:pt idx="2">
                  <c:v>COLOURED</c:v>
                </c:pt>
                <c:pt idx="3">
                  <c:v>INDIAN_ASIAN</c:v>
                </c:pt>
                <c:pt idx="4">
                  <c:v>NONE</c:v>
                </c:pt>
                <c:pt idx="5">
                  <c:v>OTHER</c:v>
                </c:pt>
                <c:pt idx="6">
                  <c:v>WHITE</c:v>
                </c:pt>
              </c:strCache>
            </c:strRef>
          </c:cat>
          <c:val>
            <c:numRef>
              <c:f>'Pivot Tables and Graphs'!$B$8:$B$15</c:f>
              <c:numCache>
                <c:formatCode>0.00%</c:formatCode>
                <c:ptCount val="7"/>
                <c:pt idx="0">
                  <c:v>1.0005002501250625E-3</c:v>
                </c:pt>
                <c:pt idx="1">
                  <c:v>0.43311655827913959</c:v>
                </c:pt>
                <c:pt idx="2">
                  <c:v>0.16318159079539771</c:v>
                </c:pt>
                <c:pt idx="3">
                  <c:v>0.15757878939469736</c:v>
                </c:pt>
                <c:pt idx="4">
                  <c:v>0.10575287643821911</c:v>
                </c:pt>
                <c:pt idx="5">
                  <c:v>1.0205102551275639E-2</c:v>
                </c:pt>
                <c:pt idx="6">
                  <c:v>0.12916458229114558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EE6-43DC-8FC5-F085C0CBE9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solidFill>
            <a:srgbClr val="000000"/>
          </a:solidFill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00000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/>
              <a:t>Viewership by Province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000000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0"/>
              <c:pt idx="0">
                <c:v>EC</c:v>
              </c:pt>
              <c:pt idx="1">
                <c:v>FS</c:v>
              </c:pt>
              <c:pt idx="2">
                <c:v>GP</c:v>
              </c:pt>
              <c:pt idx="3">
                <c:v>KZN</c:v>
              </c:pt>
              <c:pt idx="4">
                <c:v>L</c:v>
              </c:pt>
              <c:pt idx="5">
                <c:v>MP</c:v>
              </c:pt>
              <c:pt idx="6">
                <c:v>NC</c:v>
              </c:pt>
              <c:pt idx="7">
                <c:v>None</c:v>
              </c:pt>
              <c:pt idx="8">
                <c:v>NW</c:v>
              </c:pt>
              <c:pt idx="9">
                <c:v>WC</c:v>
              </c:pt>
            </c:strLit>
          </c:cat>
          <c:val>
            <c:numLit>
              <c:formatCode>General</c:formatCode>
              <c:ptCount val="10"/>
              <c:pt idx="0">
                <c:v>688</c:v>
              </c:pt>
              <c:pt idx="1">
                <c:v>292</c:v>
              </c:pt>
              <c:pt idx="2">
                <c:v>3652</c:v>
              </c:pt>
              <c:pt idx="3">
                <c:v>1001</c:v>
              </c:pt>
              <c:pt idx="4">
                <c:v>763</c:v>
              </c:pt>
              <c:pt idx="5">
                <c:v>917</c:v>
              </c:pt>
              <c:pt idx="6">
                <c:v>230</c:v>
              </c:pt>
              <c:pt idx="7">
                <c:v>263</c:v>
              </c:pt>
              <c:pt idx="8">
                <c:v>344</c:v>
              </c:pt>
              <c:pt idx="9">
                <c:v>1845</c:v>
              </c:pt>
            </c:numLit>
          </c:val>
          <c:extLst>
            <c:ext xmlns:c16="http://schemas.microsoft.com/office/drawing/2014/chart" uri="{C3380CC4-5D6E-409C-BE32-E72D297353CC}">
              <c16:uniqueId val="{00000000-29D9-4215-80BF-57A453DA29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9"/>
        <c:overlap val="-27"/>
        <c:axId val="1529368583"/>
        <c:axId val="697013256"/>
      </c:barChart>
      <c:catAx>
        <c:axId val="152936858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697013256"/>
        <c:crosses val="autoZero"/>
        <c:auto val="1"/>
        <c:lblAlgn val="ctr"/>
        <c:lblOffset val="100"/>
        <c:noMultiLvlLbl val="0"/>
      </c:catAx>
      <c:valAx>
        <c:axId val="697013256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1529368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[BrightTV_joined(in).xlsx]by gender!PivotTable1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/>
              <a:t>Viewership by Gender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000000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637CEF"/>
          </a:solidFill>
          <a:ln>
            <a:noFill/>
          </a:ln>
          <a:effectLst/>
        </c:spPr>
        <c:marker>
          <c:spPr>
            <a:solidFill>
              <a:srgbClr val="637CEF"/>
            </a:solidFill>
            <a:ln w="9525">
              <a:solidFill>
                <a:srgbClr val="637CEF"/>
              </a:solidFill>
            </a:ln>
            <a:effectLst/>
          </c:spPr>
        </c:marker>
        <c:dLbl>
          <c:idx val="0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FFC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637CE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637CE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FFC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637CE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rgbClr val="FFC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637CE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rgbClr val="FFC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rgbClr val="637CE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rgbClr val="FFC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rgbClr val="637CE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rgbClr val="FFC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rgbClr val="637CE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rgbClr val="FFC00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'by gender'!$B$3:$B$4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637CE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'by gender'!$A$5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'by gender'!$B$5</c:f>
              <c:numCache>
                <c:formatCode>0.00%</c:formatCode>
                <c:ptCount val="1"/>
                <c:pt idx="0">
                  <c:v>9.7648824412206098E-2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CC-4824-918B-48400CFEA7A5}"/>
            </c:ext>
          </c:extLst>
        </c:ser>
        <c:ser>
          <c:idx val="1"/>
          <c:order val="1"/>
          <c:tx>
            <c:strRef>
              <c:f>'by gender'!$C$3:$C$4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'by gender'!$A$5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'by gender'!$C$5</c:f>
              <c:numCache>
                <c:formatCode>0.00%</c:formatCode>
                <c:ptCount val="1"/>
                <c:pt idx="0">
                  <c:v>0.8761380690345173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CC-4824-918B-48400CFEA7A5}"/>
            </c:ext>
          </c:extLst>
        </c:ser>
        <c:ser>
          <c:idx val="2"/>
          <c:order val="2"/>
          <c:tx>
            <c:strRef>
              <c:f>'by gender'!$D$3:$D$4</c:f>
              <c:strCache>
                <c:ptCount val="1"/>
                <c:pt idx="0">
                  <c:v>NONE</c:v>
                </c:pt>
              </c:strCache>
            </c:strRef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'by gender'!$A$5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'by gender'!$D$5</c:f>
              <c:numCache>
                <c:formatCode>0.00%</c:formatCode>
                <c:ptCount val="1"/>
                <c:pt idx="0">
                  <c:v>2.621310655327664E-2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CC-4824-918B-48400CFEA7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4"/>
        <c:overlap val="100"/>
        <c:axId val="1744444423"/>
        <c:axId val="1744446471"/>
      </c:barChart>
      <c:catAx>
        <c:axId val="1744444423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lang="en-US"/>
                  <a:t>Gender</a:t>
                </a:r>
              </a:p>
            </c:rich>
          </c:tx>
          <c:layout>
            <c:manualLayout>
              <c:xMode val="edge"/>
              <c:yMode val="edge"/>
              <c:x val="1.2807307998543811E-2"/>
              <c:y val="0.3945869575182318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744446471"/>
        <c:crosses val="autoZero"/>
        <c:auto val="1"/>
        <c:lblAlgn val="ctr"/>
        <c:lblOffset val="100"/>
        <c:noMultiLvlLbl val="0"/>
      </c:catAx>
      <c:valAx>
        <c:axId val="1744446471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17444444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solidFill>
            <a:srgbClr val="000000"/>
          </a:solidFill>
          <a:prstDash val="solid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rgbClr val="000000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[BrightTV_joined(in).xlsx]Pivot Tables and Graphs!PivotTable3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/>
              <a:t>Viewership by Age Group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000000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70AD47"/>
          </a:solidFill>
          <a:ln w="254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70AD47"/>
          </a:solidFill>
          <a:ln w="254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70AD47"/>
          </a:solidFill>
          <a:ln w="25400"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'Pivot Tables and Graphs'!$B$48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70AD47"/>
            </a:solidFill>
            <a:ln w="25400"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Tables and Graphs'!$A$49:$A$54</c:f>
              <c:strCache>
                <c:ptCount val="5"/>
                <c:pt idx="0">
                  <c:v>13 to 25</c:v>
                </c:pt>
                <c:pt idx="1">
                  <c:v>26 to 44</c:v>
                </c:pt>
                <c:pt idx="2">
                  <c:v>45 and older</c:v>
                </c:pt>
                <c:pt idx="3">
                  <c:v>Not Specified</c:v>
                </c:pt>
                <c:pt idx="4">
                  <c:v>Younger than 13</c:v>
                </c:pt>
              </c:strCache>
            </c:strRef>
          </c:cat>
          <c:val>
            <c:numRef>
              <c:f>'Pivot Tables and Graphs'!$B$49:$B$54</c:f>
              <c:numCache>
                <c:formatCode>General</c:formatCode>
                <c:ptCount val="5"/>
                <c:pt idx="0">
                  <c:v>2051</c:v>
                </c:pt>
                <c:pt idx="1">
                  <c:v>6392</c:v>
                </c:pt>
                <c:pt idx="2">
                  <c:v>1193</c:v>
                </c:pt>
                <c:pt idx="3">
                  <c:v>260</c:v>
                </c:pt>
                <c:pt idx="4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DA-476E-B13A-8CDAA1595D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7"/>
        <c:axId val="886533128"/>
        <c:axId val="945686023"/>
      </c:barChart>
      <c:catAx>
        <c:axId val="886533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945686023"/>
        <c:crosses val="autoZero"/>
        <c:auto val="1"/>
        <c:lblAlgn val="ctr"/>
        <c:lblOffset val="100"/>
        <c:noMultiLvlLbl val="0"/>
      </c:catAx>
      <c:valAx>
        <c:axId val="94568602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86533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/>
              <a:t>Top 10 Most Viewed Channels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000000"/>
              </a:solidFill>
              <a:latin typeface="Aptos Display"/>
              <a:ea typeface="Aptos Display"/>
              <a:cs typeface="Aptos Display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70AD47"/>
          </a:solidFill>
          <a:ln>
            <a:noFill/>
          </a:ln>
          <a:effectLst/>
        </c:spPr>
        <c:marker>
          <c:symbol val="circle"/>
          <c:size val="5"/>
          <c:spPr>
            <a:solidFill>
              <a:srgbClr val="637CEF"/>
            </a:solidFill>
            <a:ln w="9525">
              <a:solidFill>
                <a:srgbClr val="637CEF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v>Total</c:v>
          </c:tx>
          <c:spPr>
            <a:solidFill>
              <a:srgbClr val="70AD4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0000"/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10"/>
              <c:pt idx="0">
                <c:v>Africa Magic</c:v>
              </c:pt>
              <c:pt idx="1">
                <c:v>Boomerang</c:v>
              </c:pt>
              <c:pt idx="2">
                <c:v>Cartoon Network</c:v>
              </c:pt>
              <c:pt idx="3">
                <c:v>Channel O</c:v>
              </c:pt>
              <c:pt idx="4">
                <c:v>CNN</c:v>
              </c:pt>
              <c:pt idx="5">
                <c:v>E! Entertainment</c:v>
              </c:pt>
              <c:pt idx="6">
                <c:v>ICC Cricket World Cup 2011</c:v>
              </c:pt>
              <c:pt idx="7">
                <c:v>SuperSport Blitz</c:v>
              </c:pt>
              <c:pt idx="8">
                <c:v>Supersport Live Events</c:v>
              </c:pt>
              <c:pt idx="9">
                <c:v>Trace TV</c:v>
              </c:pt>
            </c:strLit>
          </c:cat>
          <c:val>
            <c:numLit>
              <c:formatCode>General</c:formatCode>
              <c:ptCount val="10"/>
              <c:pt idx="0">
                <c:v>857</c:v>
              </c:pt>
              <c:pt idx="1">
                <c:v>714</c:v>
              </c:pt>
              <c:pt idx="2">
                <c:v>793</c:v>
              </c:pt>
              <c:pt idx="3">
                <c:v>1048</c:v>
              </c:pt>
              <c:pt idx="4">
                <c:v>505</c:v>
              </c:pt>
              <c:pt idx="5">
                <c:v>367</c:v>
              </c:pt>
              <c:pt idx="6">
                <c:v>1465</c:v>
              </c:pt>
              <c:pt idx="7">
                <c:v>896</c:v>
              </c:pt>
              <c:pt idx="8">
                <c:v>1637</c:v>
              </c:pt>
              <c:pt idx="9">
                <c:v>952</c:v>
              </c:pt>
            </c:numLit>
          </c:val>
          <c:extLst>
            <c:ext xmlns:c16="http://schemas.microsoft.com/office/drawing/2014/chart" uri="{C3380CC4-5D6E-409C-BE32-E72D297353CC}">
              <c16:uniqueId val="{00000000-68B1-4436-8C94-5598A21CC2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8"/>
        <c:axId val="1703720455"/>
        <c:axId val="1708670471"/>
      </c:barChart>
      <c:catAx>
        <c:axId val="1703720455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1708670471"/>
        <c:crosses val="autoZero"/>
        <c:auto val="1"/>
        <c:lblAlgn val="ctr"/>
        <c:lblOffset val="100"/>
        <c:noMultiLvlLbl val="0"/>
      </c:catAx>
      <c:valAx>
        <c:axId val="1708670471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170372045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/>
              <a:t>Viewership by Time of Day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000000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70AD47"/>
          </a:solidFill>
          <a:ln>
            <a:noFill/>
          </a:ln>
          <a:effectLst/>
        </c:spPr>
        <c:marker>
          <c:symbol val="circle"/>
          <c:size val="5"/>
          <c:spPr>
            <a:solidFill>
              <a:srgbClr val="637CEF"/>
            </a:solidFill>
            <a:ln w="9525">
              <a:solidFill>
                <a:srgbClr val="637CEF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4"/>
              <c:pt idx="0">
                <c:v>Afternoon</c:v>
              </c:pt>
              <c:pt idx="1">
                <c:v>Evening</c:v>
              </c:pt>
              <c:pt idx="2">
                <c:v>Morning</c:v>
              </c:pt>
              <c:pt idx="3">
                <c:v>Night</c:v>
              </c:pt>
            </c:strLit>
          </c:cat>
          <c:val>
            <c:numLit>
              <c:formatCode>General</c:formatCode>
              <c:ptCount val="4"/>
              <c:pt idx="0">
                <c:v>797</c:v>
              </c:pt>
              <c:pt idx="1">
                <c:v>671</c:v>
              </c:pt>
              <c:pt idx="2">
                <c:v>1941</c:v>
              </c:pt>
              <c:pt idx="3">
                <c:v>6586</c:v>
              </c:pt>
            </c:numLit>
          </c:val>
          <c:extLst>
            <c:ext xmlns:c16="http://schemas.microsoft.com/office/drawing/2014/chart" uri="{C3380CC4-5D6E-409C-BE32-E72D297353CC}">
              <c16:uniqueId val="{00000000-BECF-46D1-AE7C-4566342F70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40"/>
        <c:overlap val="-27"/>
        <c:axId val="89443848"/>
        <c:axId val="504295944"/>
      </c:barChart>
      <c:catAx>
        <c:axId val="8944384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504295944"/>
        <c:crosses val="autoZero"/>
        <c:auto val="1"/>
        <c:lblAlgn val="ctr"/>
        <c:lblOffset val="100"/>
        <c:noMultiLvlLbl val="0"/>
      </c:catAx>
      <c:valAx>
        <c:axId val="504295944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894438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/>
              <a:t>Viewership by Duration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000000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70AD47"/>
          </a:solidFill>
          <a:ln>
            <a:noFill/>
          </a:ln>
          <a:effectLst/>
        </c:spPr>
        <c:marker>
          <c:symbol val="circle"/>
          <c:size val="5"/>
          <c:spPr>
            <a:solidFill>
              <a:srgbClr val="637CEF"/>
            </a:solidFill>
            <a:ln w="9525">
              <a:solidFill>
                <a:srgbClr val="637CEF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4"/>
              <c:pt idx="0">
                <c:v>0 - 3 Hrs</c:v>
              </c:pt>
              <c:pt idx="1">
                <c:v>3 - 6 Hrs</c:v>
              </c:pt>
              <c:pt idx="2">
                <c:v>6 - 9 Hrs</c:v>
              </c:pt>
              <c:pt idx="3">
                <c:v>9 - 12 Hrs</c:v>
              </c:pt>
            </c:strLit>
          </c:cat>
          <c:val>
            <c:numLit>
              <c:formatCode>General</c:formatCode>
              <c:ptCount val="4"/>
              <c:pt idx="0">
                <c:v>9969</c:v>
              </c:pt>
              <c:pt idx="1">
                <c:v>24</c:v>
              </c:pt>
              <c:pt idx="2">
                <c:v>1</c:v>
              </c:pt>
              <c:pt idx="3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00-E446-4323-9564-EAF646F8C8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5"/>
        <c:overlap val="-27"/>
        <c:axId val="1421848071"/>
        <c:axId val="1249330695"/>
      </c:barChart>
      <c:catAx>
        <c:axId val="142184807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249330695"/>
        <c:crosses val="autoZero"/>
        <c:auto val="1"/>
        <c:lblAlgn val="ctr"/>
        <c:lblOffset val="100"/>
        <c:noMultiLvlLbl val="0"/>
      </c:catAx>
      <c:valAx>
        <c:axId val="1249330695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14218480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/>
              <a:t>Viewership by Day of the Week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000000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70AD47"/>
          </a:solidFill>
          <a:ln>
            <a:noFill/>
          </a:ln>
          <a:effectLst/>
        </c:spPr>
        <c:marker>
          <c:symbol val="circle"/>
          <c:size val="5"/>
          <c:spPr>
            <a:solidFill>
              <a:srgbClr val="637CEF"/>
            </a:solidFill>
            <a:ln w="9525">
              <a:solidFill>
                <a:srgbClr val="637CEF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70AD47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rgbClr val="000000"/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7"/>
              <c:pt idx="0">
                <c:v>Sunday</c:v>
              </c:pt>
              <c:pt idx="1">
                <c:v>Monday</c:v>
              </c:pt>
              <c:pt idx="2">
                <c:v>Tuesday</c:v>
              </c:pt>
              <c:pt idx="3">
                <c:v>Wednesday</c:v>
              </c:pt>
              <c:pt idx="4">
                <c:v>Thursday</c:v>
              </c:pt>
              <c:pt idx="5">
                <c:v>Friday</c:v>
              </c:pt>
              <c:pt idx="6">
                <c:v>Saturday</c:v>
              </c:pt>
            </c:strLit>
          </c:cat>
          <c:val>
            <c:numLit>
              <c:formatCode>General</c:formatCode>
              <c:ptCount val="7"/>
              <c:pt idx="0">
                <c:v>1418</c:v>
              </c:pt>
              <c:pt idx="1">
                <c:v>956</c:v>
              </c:pt>
              <c:pt idx="2">
                <c:v>1322</c:v>
              </c:pt>
              <c:pt idx="3">
                <c:v>1553</c:v>
              </c:pt>
              <c:pt idx="4">
                <c:v>1440</c:v>
              </c:pt>
              <c:pt idx="5">
                <c:v>1673</c:v>
              </c:pt>
              <c:pt idx="6">
                <c:v>1633</c:v>
              </c:pt>
            </c:numLit>
          </c:val>
          <c:extLst>
            <c:ext xmlns:c16="http://schemas.microsoft.com/office/drawing/2014/chart" uri="{C3380CC4-5D6E-409C-BE32-E72D297353CC}">
              <c16:uniqueId val="{00000000-3FA9-4F52-AA50-C8BDCA6364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2"/>
        <c:overlap val="-27"/>
        <c:axId val="998558727"/>
        <c:axId val="998564871"/>
      </c:barChart>
      <c:catAx>
        <c:axId val="998558727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1" i="0" u="none" strike="noStrike" kern="120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998564871"/>
        <c:crosses val="autoZero"/>
        <c:auto val="1"/>
        <c:lblAlgn val="ctr"/>
        <c:lblOffset val="100"/>
        <c:noMultiLvlLbl val="0"/>
      </c:catAx>
      <c:valAx>
        <c:axId val="998564871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9985587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/>
              <a:t>Total Viewers Over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000000"/>
              </a:solidFill>
              <a:latin typeface="Times New Roman"/>
              <a:ea typeface="Times New Roman"/>
              <a:cs typeface="Times New Roman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637CEF"/>
          </a:solidFill>
          <a:ln w="28575" cap="rnd">
            <a:solidFill>
              <a:srgbClr val="FF0000"/>
            </a:solidFill>
            <a:prstDash val="solid"/>
            <a:round/>
          </a:ln>
          <a:effectLst/>
        </c:spPr>
        <c:marker>
          <c:symbol val="circle"/>
          <c:size val="2"/>
          <c:spPr>
            <a:solidFill>
              <a:srgbClr val="000000"/>
            </a:solidFill>
            <a:ln w="9525">
              <a:solidFill>
                <a:srgbClr val="637CEF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637CEF"/>
          </a:solidFill>
          <a:ln w="28575" cap="rnd">
            <a:solidFill>
              <a:srgbClr val="FF0000"/>
            </a:solidFill>
            <a:prstDash val="solid"/>
            <a:round/>
          </a:ln>
          <a:effectLst/>
        </c:spPr>
        <c:marker>
          <c:symbol val="circle"/>
          <c:size val="2"/>
          <c:spPr>
            <a:solidFill>
              <a:srgbClr val="000000"/>
            </a:solidFill>
            <a:ln w="9525">
              <a:solidFill>
                <a:srgbClr val="637CEF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637CEF"/>
          </a:solidFill>
          <a:ln w="28575" cap="rnd">
            <a:solidFill>
              <a:srgbClr val="FF0000"/>
            </a:solidFill>
            <a:prstDash val="solid"/>
            <a:round/>
          </a:ln>
          <a:effectLst/>
        </c:spPr>
        <c:marker>
          <c:symbol val="circle"/>
          <c:size val="2"/>
          <c:spPr>
            <a:solidFill>
              <a:srgbClr val="000000"/>
            </a:solidFill>
            <a:ln w="9525">
              <a:solidFill>
                <a:srgbClr val="637CEF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637CEF"/>
          </a:solidFill>
          <a:ln w="28575" cap="rnd">
            <a:solidFill>
              <a:srgbClr val="FF0000"/>
            </a:solidFill>
            <a:prstDash val="solid"/>
            <a:round/>
          </a:ln>
          <a:effectLst/>
        </c:spPr>
        <c:marker>
          <c:symbol val="circle"/>
          <c:size val="2"/>
          <c:spPr>
            <a:solidFill>
              <a:srgbClr val="000000"/>
            </a:solidFill>
            <a:ln w="9525">
              <a:solidFill>
                <a:srgbClr val="637CEF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637CEF"/>
          </a:solidFill>
          <a:ln w="28575" cap="rnd">
            <a:solidFill>
              <a:srgbClr val="FF0000"/>
            </a:solidFill>
            <a:prstDash val="solid"/>
            <a:round/>
          </a:ln>
          <a:effectLst/>
        </c:spPr>
        <c:marker>
          <c:symbol val="circle"/>
          <c:size val="2"/>
          <c:spPr>
            <a:solidFill>
              <a:srgbClr val="000000"/>
            </a:solidFill>
            <a:ln w="9525">
              <a:solidFill>
                <a:srgbClr val="637CEF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ptos Display"/>
                  <a:ea typeface="Aptos Display"/>
                  <a:cs typeface="Aptos Display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v>Total</c:v>
          </c:tx>
          <c:spPr>
            <a:ln w="28575" cap="rnd">
              <a:solidFill>
                <a:srgbClr val="FF0000"/>
              </a:solidFill>
              <a:prstDash val="solid"/>
              <a:round/>
            </a:ln>
            <a:effectLst/>
          </c:spPr>
          <c:marker>
            <c:symbol val="circle"/>
            <c:size val="2"/>
            <c:spPr>
              <a:solidFill>
                <a:srgbClr val="000000"/>
              </a:solidFill>
              <a:ln w="9525">
                <a:solidFill>
                  <a:srgbClr val="637CEF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imes New Roman"/>
                    <a:ea typeface="Times New Roman"/>
                    <a:cs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4"/>
              <c:pt idx="0">
                <c:v>January</c:v>
              </c:pt>
              <c:pt idx="1">
                <c:v>February</c:v>
              </c:pt>
              <c:pt idx="2">
                <c:v>March</c:v>
              </c:pt>
              <c:pt idx="3">
                <c:v>April</c:v>
              </c:pt>
            </c:strLit>
          </c:cat>
          <c:val>
            <c:numLit>
              <c:formatCode>General</c:formatCode>
              <c:ptCount val="4"/>
              <c:pt idx="0">
                <c:v>2197</c:v>
              </c:pt>
              <c:pt idx="1">
                <c:v>2977</c:v>
              </c:pt>
              <c:pt idx="2">
                <c:v>4816</c:v>
              </c:pt>
              <c:pt idx="3">
                <c:v>5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2F12-4EF1-B0E9-A1DED8D9EC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98571015"/>
        <c:axId val="1425740807"/>
      </c:lineChart>
      <c:catAx>
        <c:axId val="99857101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1425740807"/>
        <c:crosses val="autoZero"/>
        <c:auto val="1"/>
        <c:lblAlgn val="ctr"/>
        <c:lblOffset val="100"/>
        <c:noMultiLvlLbl val="0"/>
      </c:catAx>
      <c:valAx>
        <c:axId val="1425740807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>
            <a:solidFill>
              <a:srgbClr val="000000"/>
            </a:solidFill>
            <a:prstDash val="solid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endParaRPr lang="en-US"/>
          </a:p>
        </c:txPr>
        <c:crossAx val="998571015"/>
        <c:crosses val="autoZero"/>
        <c:crossBetween val="between"/>
        <c:majorUnit val="500"/>
        <c:minorUnit val="5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olors1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2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3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4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5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6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7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8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9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1571308"/>
            <a:ext cx="9601200" cy="334264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4"/>
            <a:ext cx="11041380" cy="399383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49"/>
            <a:ext cx="11041380" cy="2100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6"/>
            <a:ext cx="11041380" cy="18557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8" y="2353628"/>
            <a:ext cx="5415676" cy="1153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8" y="3507105"/>
            <a:ext cx="5415676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0" y="2353628"/>
            <a:ext cx="5442347" cy="1153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0" y="3507105"/>
            <a:ext cx="5442347" cy="51584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6"/>
            <a:ext cx="6480810" cy="6823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6"/>
            <a:ext cx="6480810" cy="682307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5" y="511175"/>
            <a:ext cx="2760345" cy="81365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0" y="511175"/>
            <a:ext cx="8121015" cy="81365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6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1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1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1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798399" cy="96011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801600" cy="9601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66F53-C426-F1ED-A216-E1060B4AFA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11135" b="2"/>
          <a:stretch>
            <a:fillRect/>
          </a:stretch>
        </p:blipFill>
        <p:spPr>
          <a:xfrm>
            <a:off x="-1" y="10"/>
            <a:ext cx="12801601" cy="96011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0110" y="1280162"/>
            <a:ext cx="11041380" cy="4180293"/>
          </a:xfr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1075334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7667" algn="l" defTabSz="1075334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5334" algn="l" defTabSz="1075334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13002" algn="l" defTabSz="1075334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0669" algn="l" defTabSz="1075334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8336" algn="l" defTabSz="1075334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26003" algn="l" defTabSz="1075334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63670" algn="l" defTabSz="1075334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01338" algn="l" defTabSz="1075334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300" b="1" dirty="0">
                <a:solidFill>
                  <a:srgbClr val="FFFFFF"/>
                </a:solidFill>
                <a:latin typeface="Times New Roman"/>
                <a:cs typeface="Times New Roman"/>
              </a:rPr>
              <a:t>BRIGHT TV VIEWERSHIP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0110" y="5700856"/>
            <a:ext cx="11041380" cy="1938033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0" algn="l" defTabSz="1075334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7667" algn="l" defTabSz="1075334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5334" algn="l" defTabSz="1075334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13002" algn="l" defTabSz="1075334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0669" algn="l" defTabSz="1075334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88336" algn="l" defTabSz="1075334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26003" algn="l" defTabSz="1075334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63670" algn="l" defTabSz="1075334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01338" algn="l" defTabSz="1075334" rtl="0" eaLnBrk="1" latinLnBrk="0" hangingPunct="1">
              <a:defRPr sz="2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FFFFFF"/>
                </a:solidFill>
                <a:latin typeface="Times New Roman"/>
                <a:cs typeface="Times New Roman"/>
              </a:rPr>
              <a:t>IN-DEPTH ANALYSIS OF VIEWERSHIP AND STRATEGIC RECOMMENDATIONS</a:t>
            </a:r>
            <a:endParaRPr lang="en-US" sz="2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801598" cy="960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948568" cy="3200398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D0607-A950-A1DE-0236-DA040DED6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3" y="490274"/>
            <a:ext cx="4879249" cy="2274328"/>
          </a:xfrm>
        </p:spPr>
        <p:txBody>
          <a:bodyPr anchor="ctr">
            <a:normAutofit/>
          </a:bodyPr>
          <a:lstStyle/>
          <a:p>
            <a:r>
              <a:rPr lang="en-US" sz="4900" b="1">
                <a:latin typeface="Times New Roman"/>
                <a:cs typeface="Times New Roman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72BC8-837D-1220-7EB6-4FCC8E68B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892" y="3840479"/>
            <a:ext cx="4879250" cy="505840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EXECUTIVE SUMMARY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APPROACH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ANALYSIS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VIEWS FACTORS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Times New Roman"/>
                <a:cs typeface="Times New Roman"/>
              </a:rPr>
              <a:t>STRATEGIC RECOMMENDATIONS</a:t>
            </a:r>
          </a:p>
        </p:txBody>
      </p:sp>
      <p:pic>
        <p:nvPicPr>
          <p:cNvPr id="5" name="Picture 4" descr="Calculator and folders">
            <a:extLst>
              <a:ext uri="{FF2B5EF4-FFF2-40B4-BE49-F238E27FC236}">
                <a16:creationId xmlns:a16="http://schemas.microsoft.com/office/drawing/2014/main" id="{0529E7ED-CE2D-66D7-893D-88BF1C2A68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40" r="44003" b="-7"/>
          <a:stretch>
            <a:fillRect/>
          </a:stretch>
        </p:blipFill>
        <p:spPr>
          <a:xfrm>
            <a:off x="6400800" y="1"/>
            <a:ext cx="6407966" cy="96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5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801598" cy="960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948568" cy="3200398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CCA25-A9C3-5501-E158-B8F3D6A11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3" y="490274"/>
            <a:ext cx="4879249" cy="2274328"/>
          </a:xfrm>
        </p:spPr>
        <p:txBody>
          <a:bodyPr anchor="ctr">
            <a:normAutofit/>
          </a:bodyPr>
          <a:lstStyle/>
          <a:p>
            <a:r>
              <a:rPr lang="en-US" sz="4900" b="1" dirty="0">
                <a:latin typeface="Times New Roman"/>
                <a:cs typeface="Times New Roman"/>
              </a:rPr>
              <a:t>BRIGHT TV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44E8A-A3B2-867B-DC20-F1036EC43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892" y="3840479"/>
            <a:ext cx="4879250" cy="505840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900">
                <a:latin typeface="Times New Roman"/>
                <a:cs typeface="Times New Roman"/>
              </a:rPr>
              <a:t>Black people account for 43% of viewership , the highest viewership record during this period, January to April</a:t>
            </a:r>
            <a:endParaRPr lang="en-US" sz="1900">
              <a:latin typeface="Aptos" panose="020B0004020202020204"/>
              <a:cs typeface="Times New Roman"/>
            </a:endParaRPr>
          </a:p>
          <a:p>
            <a:r>
              <a:rPr lang="en-US" sz="1900">
                <a:latin typeface="Times New Roman"/>
                <a:cs typeface="Times New Roman"/>
              </a:rPr>
              <a:t>The highest viewership by province sits at 37% ( total of 3652 views) from Gauteng</a:t>
            </a:r>
            <a:endParaRPr lang="en-US" sz="1900">
              <a:latin typeface="Aptos" panose="020B0004020202020204"/>
              <a:cs typeface="Times New Roman"/>
            </a:endParaRPr>
          </a:p>
          <a:p>
            <a:pPr marL="285750" indent="-285750">
              <a:spcBef>
                <a:spcPts val="0"/>
              </a:spcBef>
              <a:buFont typeface="Arial,Sans-Serif" panose="020B0604020202020204" pitchFamily="34" charset="0"/>
            </a:pPr>
            <a:r>
              <a:rPr lang="en-US" sz="1900">
                <a:latin typeface="Times New Roman"/>
                <a:cs typeface="Times New Roman"/>
              </a:rPr>
              <a:t>Of the total 9995 records, 88% of viewers are male (approx. 8796)</a:t>
            </a:r>
          </a:p>
          <a:p>
            <a:pPr marL="285750" indent="-285750">
              <a:spcBef>
                <a:spcPts val="0"/>
              </a:spcBef>
              <a:buFont typeface="Arial,Sans-Serif" panose="020B0604020202020204" pitchFamily="34" charset="0"/>
              <a:buChar char="•"/>
            </a:pPr>
            <a:r>
              <a:rPr lang="en-US" sz="1900">
                <a:latin typeface="Times New Roman"/>
                <a:cs typeface="Times New Roman"/>
              </a:rPr>
              <a:t>64% of viewers are aged between 26 and 44</a:t>
            </a:r>
          </a:p>
          <a:p>
            <a:pPr marL="285750" indent="-285750">
              <a:spcBef>
                <a:spcPts val="0"/>
              </a:spcBef>
              <a:buFont typeface="Arial,Sans-Serif" panose="020B0604020202020204" pitchFamily="34" charset="0"/>
              <a:buChar char="•"/>
            </a:pPr>
            <a:r>
              <a:rPr lang="en-US" sz="1900">
                <a:latin typeface="Times New Roman"/>
                <a:cs typeface="Times New Roman"/>
              </a:rPr>
              <a:t>The Top 10 most watched channels  make up approximately 94% of  total channels watched</a:t>
            </a:r>
          </a:p>
          <a:p>
            <a:pPr marL="285750" indent="-285750">
              <a:spcBef>
                <a:spcPts val="0"/>
              </a:spcBef>
              <a:buFont typeface="Arial,Sans-Serif" panose="020B0604020202020204" pitchFamily="34" charset="0"/>
              <a:buChar char="•"/>
            </a:pPr>
            <a:r>
              <a:rPr lang="en-US" sz="1900">
                <a:latin typeface="Times New Roman"/>
                <a:cs typeface="Times New Roman"/>
              </a:rPr>
              <a:t>99% of viewers watch programs/channels for 0-3 hours, on average</a:t>
            </a:r>
          </a:p>
          <a:p>
            <a:pPr marL="285750" indent="-285750">
              <a:spcBef>
                <a:spcPts val="0"/>
              </a:spcBef>
              <a:buFont typeface="Arial,Sans-Serif" panose="020B0604020202020204" pitchFamily="34" charset="0"/>
              <a:buChar char="•"/>
            </a:pPr>
            <a:r>
              <a:rPr lang="en-US" sz="1900">
                <a:latin typeface="Times New Roman"/>
                <a:cs typeface="Times New Roman"/>
              </a:rPr>
              <a:t>Viewership by Day of the Week indicates that Friday has the highest views, a staggering 75% increase from Monday</a:t>
            </a:r>
          </a:p>
          <a:p>
            <a:pPr marL="285750" indent="-285750">
              <a:spcBef>
                <a:spcPts val="0"/>
              </a:spcBef>
              <a:buFont typeface="Arial,Sans-Serif" panose="020B0604020202020204" pitchFamily="34" charset="0"/>
              <a:buChar char="•"/>
            </a:pPr>
            <a:r>
              <a:rPr lang="en-US" sz="1900" dirty="0">
                <a:latin typeface="Times New Roman"/>
                <a:cs typeface="Times New Roman"/>
              </a:rPr>
              <a:t>Viewership is increasing from January to March, with a sharp fall to1 view in April.</a:t>
            </a:r>
            <a:endParaRPr lang="en-US" sz="1900" dirty="0"/>
          </a:p>
          <a:p>
            <a:pPr marL="285750" indent="-285750">
              <a:spcBef>
                <a:spcPts val="0"/>
              </a:spcBef>
              <a:buFont typeface="Arial,Sans-Serif" panose="020B0604020202020204" pitchFamily="34" charset="0"/>
            </a:pPr>
            <a:endParaRPr lang="en-US" sz="1900">
              <a:latin typeface="Times New Roman"/>
              <a:cs typeface="Times New Roman"/>
            </a:endParaRPr>
          </a:p>
          <a:p>
            <a:pPr marL="285750" indent="-285750">
              <a:spcBef>
                <a:spcPts val="0"/>
              </a:spcBef>
              <a:buFont typeface="Arial,Sans-Serif" panose="020B0604020202020204" pitchFamily="34" charset="0"/>
            </a:pPr>
            <a:endParaRPr lang="en-US" sz="1900">
              <a:latin typeface="Times New Roman"/>
              <a:cs typeface="Times New Roman"/>
            </a:endParaRPr>
          </a:p>
          <a:p>
            <a:pPr marL="285750" indent="-285750">
              <a:spcBef>
                <a:spcPts val="0"/>
              </a:spcBef>
              <a:buFont typeface="Arial,Sans-Serif" panose="020B0604020202020204" pitchFamily="34" charset="0"/>
            </a:pPr>
            <a:endParaRPr lang="en-US" sz="1900">
              <a:latin typeface="Times New Roman"/>
              <a:cs typeface="Times New Roman"/>
            </a:endParaRPr>
          </a:p>
          <a:p>
            <a:endParaRPr lang="en-US" sz="1900">
              <a:latin typeface="Times New Roman"/>
              <a:cs typeface="Times New Roman"/>
            </a:endParaRPr>
          </a:p>
        </p:txBody>
      </p:sp>
      <p:pic>
        <p:nvPicPr>
          <p:cNvPr id="8" name="Picture 7" descr="Stock numbers on a digital display">
            <a:extLst>
              <a:ext uri="{FF2B5EF4-FFF2-40B4-BE49-F238E27FC236}">
                <a16:creationId xmlns:a16="http://schemas.microsoft.com/office/drawing/2014/main" id="{345ACECF-05FD-0C18-AD18-86BD4EAD7C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559" r="17495" b="-6"/>
          <a:stretch>
            <a:fillRect/>
          </a:stretch>
        </p:blipFill>
        <p:spPr>
          <a:xfrm>
            <a:off x="6400800" y="1"/>
            <a:ext cx="6407966" cy="960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4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801600" cy="9601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1138CF-7E9D-7981-75B4-949D6504E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90" y="1066801"/>
            <a:ext cx="5600906" cy="2391539"/>
          </a:xfrm>
        </p:spPr>
        <p:txBody>
          <a:bodyPr anchor="ctr">
            <a:normAutofit/>
          </a:bodyPr>
          <a:lstStyle/>
          <a:p>
            <a:r>
              <a:rPr lang="en-US" sz="4900" b="1" dirty="0">
                <a:latin typeface="Times New Roman"/>
                <a:cs typeface="Times New Roman"/>
              </a:rPr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A8D7C-E59C-C014-5D73-EC6565EA3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890" y="3458341"/>
            <a:ext cx="5600906" cy="52777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/>
                <a:cs typeface="Times New Roman"/>
              </a:rPr>
              <a:t>DATA COMPLETENESS</a:t>
            </a:r>
            <a:endParaRPr lang="en-US" sz="2000" b="1" dirty="0"/>
          </a:p>
          <a:p>
            <a:r>
              <a:rPr lang="en-US" sz="2000" dirty="0">
                <a:latin typeface="Times New Roman"/>
                <a:cs typeface="Times New Roman"/>
              </a:rPr>
              <a:t>To ensure data completeness, the number of records and duplicates were assessed on Excel and Databricks on both working tables.</a:t>
            </a:r>
          </a:p>
          <a:p>
            <a:r>
              <a:rPr lang="en-US" sz="2000" dirty="0">
                <a:latin typeface="Times New Roman"/>
                <a:cs typeface="Times New Roman"/>
              </a:rPr>
              <a:t>Viewership Table contained 5 duplicates. A new temporary table was created to address duplicates.</a:t>
            </a:r>
          </a:p>
          <a:p>
            <a:endParaRPr lang="en-US" sz="2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/>
                <a:ea typeface="+mn-lt"/>
                <a:cs typeface="+mn-lt"/>
              </a:rPr>
              <a:t>METHODOLOGY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The two tables are joined together for further analysis of viewership on user profiles.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To enable demographic analysis, buckets are created for demographic data.</a:t>
            </a:r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 dirty="0">
                <a:latin typeface="Times New Roman"/>
                <a:ea typeface="+mn-lt"/>
                <a:cs typeface="+mn-lt"/>
              </a:rPr>
              <a:t>The tech tools used: Databricks (SQL Queries) and Excel (Pivot Tables and Graphs).</a:t>
            </a:r>
            <a:endParaRPr lang="en-US" sz="2000" dirty="0">
              <a:latin typeface="Times New Roman"/>
              <a:cs typeface="Times New Roman"/>
            </a:endParaRPr>
          </a:p>
          <a:p>
            <a:endParaRPr lang="en-US" sz="2000"/>
          </a:p>
          <a:p>
            <a:endParaRPr lang="en-US" sz="2000"/>
          </a:p>
        </p:txBody>
      </p:sp>
      <p:pic>
        <p:nvPicPr>
          <p:cNvPr id="7" name="Picture 6" descr="Top view of cubes connected with black lines">
            <a:extLst>
              <a:ext uri="{FF2B5EF4-FFF2-40B4-BE49-F238E27FC236}">
                <a16:creationId xmlns:a16="http://schemas.microsoft.com/office/drawing/2014/main" id="{6C3A9D9E-B30E-E6DC-57EA-B4D99020F3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11" r="23009" b="5"/>
          <a:stretch>
            <a:fillRect/>
          </a:stretch>
        </p:blipFill>
        <p:spPr>
          <a:xfrm>
            <a:off x="7200686" y="-15240"/>
            <a:ext cx="5600915" cy="9616440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3307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 on document with pen">
            <a:extLst>
              <a:ext uri="{FF2B5EF4-FFF2-40B4-BE49-F238E27FC236}">
                <a16:creationId xmlns:a16="http://schemas.microsoft.com/office/drawing/2014/main" id="{2081FCAC-914D-C498-CCB3-C5472B32E2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33" r="2" b="2"/>
          <a:stretch>
            <a:fillRect/>
          </a:stretch>
        </p:blipFill>
        <p:spPr>
          <a:xfrm>
            <a:off x="20" y="10"/>
            <a:ext cx="12801580" cy="96011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448198"/>
            <a:ext cx="12801600" cy="1031172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BB2178-0FB6-EFC1-BA4A-5C2136616CF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50068" y="7444135"/>
            <a:ext cx="11771472" cy="10427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cs typeface="Times New Roman"/>
              </a:rPr>
              <a:t>DEMOGRAPHIC ANALYSIS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7338776"/>
            <a:ext cx="128016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8588792"/>
            <a:ext cx="128016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924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6089DA3-0610-F961-1144-729453CA5EE6}"/>
              </a:ext>
              <a:ext uri="{147F2762-F138-4A5C-976F-8EAC2B608ADB}">
                <a16:predDERef xmlns:a16="http://schemas.microsoft.com/office/drawing/2014/main" pred="{CCADAFC2-DFD1-4532-9A47-DD1D34F83E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33433567"/>
              </p:ext>
            </p:extLst>
          </p:nvPr>
        </p:nvGraphicFramePr>
        <p:xfrm>
          <a:off x="710335" y="751554"/>
          <a:ext cx="4324350" cy="4191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49CFC4D-E128-48B5-9839-0E8C71D8F413}"/>
              </a:ext>
              <a:ext uri="{147F2762-F138-4A5C-976F-8EAC2B608ADB}">
                <a16:predDERef xmlns:a16="http://schemas.microsoft.com/office/drawing/2014/main" pred="{B1B94DA1-2DFF-66FC-27EA-B499A83015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8292575"/>
              </p:ext>
            </p:extLst>
          </p:nvPr>
        </p:nvGraphicFramePr>
        <p:xfrm>
          <a:off x="5278172" y="755269"/>
          <a:ext cx="6984916" cy="4184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71FB9A5-AEA0-B701-A343-F519632616A5}"/>
              </a:ext>
            </a:extLst>
          </p:cNvPr>
          <p:cNvSpPr txBox="1"/>
          <p:nvPr/>
        </p:nvSpPr>
        <p:spPr>
          <a:xfrm>
            <a:off x="632162" y="5397784"/>
            <a:ext cx="11556866" cy="3915966"/>
          </a:xfrm>
          <a:prstGeom prst="round2Diag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latin typeface="Times New Roman"/>
                <a:cs typeface="Times New Roman"/>
              </a:rPr>
              <a:t>Key Insights</a:t>
            </a:r>
          </a:p>
          <a:p>
            <a:pPr algn="ctr"/>
            <a:endParaRPr lang="en-US" sz="28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Black people account for 43% of viewership , the highest viewership record during this period, January to April.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The highest viewership by province sits at 37% ( total of 3652 views) from Gauteng.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About 12% of viewers failed to disclose their race, with whites being the least viewers</a:t>
            </a:r>
          </a:p>
        </p:txBody>
      </p:sp>
    </p:spTree>
    <p:extLst>
      <p:ext uri="{BB962C8B-B14F-4D97-AF65-F5344CB8AC3E}">
        <p14:creationId xmlns:p14="http://schemas.microsoft.com/office/powerpoint/2010/main" val="1691916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CFD7DDE-18FC-40AC-8D4A-D72C0EBA5E7B}"/>
              </a:ext>
              <a:ext uri="{147F2762-F138-4A5C-976F-8EAC2B608ADB}">
                <a16:predDERef xmlns:a16="http://schemas.microsoft.com/office/drawing/2014/main" pred="{A49CFC4D-E128-48B5-9839-0E8C71D8F4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7481958"/>
              </p:ext>
            </p:extLst>
          </p:nvPr>
        </p:nvGraphicFramePr>
        <p:xfrm>
          <a:off x="6061118" y="403393"/>
          <a:ext cx="555307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1B94DA1-2DFF-66FC-27EA-B499A830157F}"/>
              </a:ext>
              <a:ext uri="{147F2762-F138-4A5C-976F-8EAC2B608ADB}">
                <a16:predDERef xmlns:a16="http://schemas.microsoft.com/office/drawing/2014/main" pred="{D757ABB0-A954-4859-ACAD-E7114BE981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6648907"/>
              </p:ext>
            </p:extLst>
          </p:nvPr>
        </p:nvGraphicFramePr>
        <p:xfrm>
          <a:off x="5561053" y="4257276"/>
          <a:ext cx="67207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8061CB4-C4DB-78C5-9152-235DF361AEC0}"/>
              </a:ext>
            </a:extLst>
          </p:cNvPr>
          <p:cNvSpPr txBox="1"/>
          <p:nvPr/>
        </p:nvSpPr>
        <p:spPr>
          <a:xfrm>
            <a:off x="510880" y="401595"/>
            <a:ext cx="4753922" cy="7619881"/>
          </a:xfrm>
          <a:prstGeom prst="round2Diag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latin typeface="Times New Roman"/>
                <a:cs typeface="Times New Roman"/>
              </a:rPr>
              <a:t>Key  Insights</a:t>
            </a:r>
          </a:p>
          <a:p>
            <a:pPr algn="ctr"/>
            <a:endParaRPr lang="en-US" sz="2800" dirty="0"/>
          </a:p>
          <a:p>
            <a:pPr marL="285750" indent="-285750">
              <a:buFont typeface="Courier New"/>
              <a:buChar char="o"/>
            </a:pPr>
            <a:r>
              <a:rPr lang="en-US" sz="2800" dirty="0">
                <a:latin typeface="Times New Roman"/>
                <a:cs typeface="Times New Roman"/>
              </a:rPr>
              <a:t>Of the total 9995 records, 88% of viewers are male (approx. 8796).</a:t>
            </a:r>
          </a:p>
          <a:p>
            <a:pPr marL="285750" indent="-285750">
              <a:buFont typeface="Courier New"/>
              <a:buChar char="o"/>
            </a:pPr>
            <a:r>
              <a:rPr lang="en-US" sz="2800" dirty="0">
                <a:latin typeface="Times New Roman"/>
                <a:cs typeface="Times New Roman"/>
              </a:rPr>
              <a:t>64% of viewers are aged between 26 and 44.</a:t>
            </a:r>
          </a:p>
          <a:p>
            <a:pPr marL="285750" indent="-285750">
              <a:buFont typeface="Courier New"/>
              <a:buChar char="o"/>
            </a:pPr>
            <a:r>
              <a:rPr lang="en-US" sz="2800" dirty="0">
                <a:latin typeface="Times New Roman"/>
                <a:cs typeface="Times New Roman"/>
              </a:rPr>
              <a:t>The leading age group, 13  to 25 accounts for approximately  21%  </a:t>
            </a:r>
          </a:p>
          <a:p>
            <a:r>
              <a:rPr lang="en-US" sz="2800" dirty="0">
                <a:latin typeface="Times New Roman"/>
                <a:cs typeface="Times New Roman"/>
              </a:rPr>
              <a:t>     of views.</a:t>
            </a:r>
          </a:p>
          <a:p>
            <a:pPr marL="457200" indent="-457200">
              <a:buFont typeface="Courier New"/>
              <a:buChar char="o"/>
            </a:pPr>
            <a:r>
              <a:rPr lang="en-US" sz="2800" dirty="0">
                <a:latin typeface="Times New Roman"/>
                <a:cs typeface="Times New Roman"/>
              </a:rPr>
              <a:t>It is safe to assume that majority of viewers aged 13 to 44 are males.</a:t>
            </a:r>
          </a:p>
          <a:p>
            <a:endParaRPr lang="en-US" sz="2800" dirty="0"/>
          </a:p>
          <a:p>
            <a:pPr marL="285750" indent="-285750">
              <a:buFont typeface="Courier New"/>
              <a:buChar char="o"/>
            </a:pPr>
            <a:endParaRPr lang="en-US" sz="2400" dirty="0"/>
          </a:p>
          <a:p>
            <a:pPr marL="285750" indent="-285750">
              <a:buFont typeface="Courier New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582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Magnifying glass showing decling performance">
            <a:extLst>
              <a:ext uri="{FF2B5EF4-FFF2-40B4-BE49-F238E27FC236}">
                <a16:creationId xmlns:a16="http://schemas.microsoft.com/office/drawing/2014/main" id="{21B9104D-78C7-20C9-D48E-47A8129241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12" r="1" b="1"/>
          <a:stretch>
            <a:fillRect/>
          </a:stretch>
        </p:blipFill>
        <p:spPr>
          <a:xfrm>
            <a:off x="20" y="-10666"/>
            <a:ext cx="12801578" cy="964230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0668"/>
            <a:ext cx="5844922" cy="9642309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111903" y="2101224"/>
            <a:ext cx="9642311" cy="5418498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10707"/>
            <a:ext cx="2183488" cy="9611905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092115" y="4296265"/>
            <a:ext cx="4729892" cy="5304935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213284" y="-9079"/>
            <a:ext cx="3598518" cy="9631643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833586" y="650403"/>
            <a:ext cx="5154834" cy="12822010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-10694"/>
            <a:ext cx="5123813" cy="9642321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8EB22-6668-9D91-F618-455A832C3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979" y="3017263"/>
            <a:ext cx="4368245" cy="39749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900" dirty="0">
                <a:latin typeface="Times New Roman"/>
                <a:cs typeface="Times New Roman"/>
              </a:rPr>
              <a:t>CHANNEL ANALYSIS</a:t>
            </a:r>
          </a:p>
        </p:txBody>
      </p:sp>
    </p:spTree>
    <p:extLst>
      <p:ext uri="{BB962C8B-B14F-4D97-AF65-F5344CB8AC3E}">
        <p14:creationId xmlns:p14="http://schemas.microsoft.com/office/powerpoint/2010/main" val="2956996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75EE094-5758-45CB-B2CB-7FC56BDED7C5}"/>
              </a:ext>
              <a:ext uri="{147F2762-F138-4A5C-976F-8EAC2B608ADB}">
                <a16:predDERef xmlns:a16="http://schemas.microsoft.com/office/drawing/2014/main" pred="{830757D8-24C5-4D59-AC21-F62F40C619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2304829"/>
              </p:ext>
            </p:extLst>
          </p:nvPr>
        </p:nvGraphicFramePr>
        <p:xfrm>
          <a:off x="174534" y="364752"/>
          <a:ext cx="6569447" cy="4086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11087EA-1B39-C2EA-F52A-E83ED8B80FEB}"/>
              </a:ext>
            </a:extLst>
          </p:cNvPr>
          <p:cNvSpPr txBox="1"/>
          <p:nvPr/>
        </p:nvSpPr>
        <p:spPr>
          <a:xfrm>
            <a:off x="174401" y="4650438"/>
            <a:ext cx="6069108" cy="4528899"/>
          </a:xfrm>
          <a:prstGeom prst="round2Diag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latin typeface="Times New Roman"/>
                <a:cs typeface="Times New Roman"/>
              </a:rPr>
              <a:t>Key Insights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The Top 10 most watched channels  make up approximately 94% of  total channels watched.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66% of views are at night.</a:t>
            </a:r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99% of viewers watch programs/channels for 0-3 hours, on average.</a:t>
            </a:r>
            <a:endParaRPr lang="en-US">
              <a:latin typeface="Times New Roman"/>
              <a:cs typeface="Times New Roman"/>
            </a:endParaRP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325D546-7136-4569-B89B-7839EE1F04D0}"/>
              </a:ext>
              <a:ext uri="{147F2762-F138-4A5C-976F-8EAC2B608ADB}">
                <a16:predDERef xmlns:a16="http://schemas.microsoft.com/office/drawing/2014/main" pred="{175EE094-5758-45CB-B2CB-7FC56BDED7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2840817"/>
              </p:ext>
            </p:extLst>
          </p:nvPr>
        </p:nvGraphicFramePr>
        <p:xfrm>
          <a:off x="6750704" y="360269"/>
          <a:ext cx="5477995" cy="40923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ADAFC2-DFD1-4532-9A47-DD1D34F83E58}"/>
              </a:ext>
              <a:ext uri="{147F2762-F138-4A5C-976F-8EAC2B608ADB}">
                <a16:predDERef xmlns:a16="http://schemas.microsoft.com/office/drawing/2014/main" pred="{B325D546-7136-4569-B89B-7839EE1F04D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7236012"/>
              </p:ext>
            </p:extLst>
          </p:nvPr>
        </p:nvGraphicFramePr>
        <p:xfrm>
          <a:off x="6562167" y="4454901"/>
          <a:ext cx="5870758" cy="4453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333442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 on document with pen">
            <a:extLst>
              <a:ext uri="{FF2B5EF4-FFF2-40B4-BE49-F238E27FC236}">
                <a16:creationId xmlns:a16="http://schemas.microsoft.com/office/drawing/2014/main" id="{0829091C-324D-B2CE-1DF5-D3BD467FA8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89" r="-2" b="-2"/>
          <a:stretch>
            <a:fillRect/>
          </a:stretch>
        </p:blipFill>
        <p:spPr>
          <a:xfrm>
            <a:off x="-3619" y="-1"/>
            <a:ext cx="12805219" cy="963164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290231" y="1108567"/>
            <a:ext cx="4229226" cy="12816926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567EA8-C72D-4B9B-D23F-6B2E9F9C9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618" y="0"/>
            <a:ext cx="2985571" cy="9631643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FBFA78-9360-1E01-5448-6D5AE0A3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490639" y="30430"/>
            <a:ext cx="3310505" cy="9601211"/>
          </a:xfrm>
          <a:prstGeom prst="rect">
            <a:avLst/>
          </a:prstGeom>
          <a:gradFill flip="none" rotWithShape="1">
            <a:gsLst>
              <a:gs pos="5000">
                <a:schemeClr val="accent5">
                  <a:alpha val="48000"/>
                </a:schemeClr>
              </a:gs>
              <a:gs pos="42000">
                <a:schemeClr val="accent5"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619" y="7403806"/>
            <a:ext cx="12809690" cy="222783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9000">
                <a:schemeClr val="accent2">
                  <a:alpha val="0"/>
                </a:schemeClr>
              </a:gs>
            </a:gsLst>
            <a:lin ang="588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47141" y="4067401"/>
            <a:ext cx="5413482" cy="5715002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AD621F-797E-3DDC-6ED5-E920FD249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979" y="5770721"/>
            <a:ext cx="8324174" cy="22689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900" dirty="0">
                <a:solidFill>
                  <a:srgbClr val="FFFFFF"/>
                </a:solidFill>
                <a:latin typeface="Times New Roman"/>
                <a:cs typeface="Times New Roman"/>
              </a:rPr>
              <a:t>TREND ANALYSIS</a:t>
            </a:r>
          </a:p>
        </p:txBody>
      </p:sp>
    </p:spTree>
    <p:extLst>
      <p:ext uri="{BB962C8B-B14F-4D97-AF65-F5344CB8AC3E}">
        <p14:creationId xmlns:p14="http://schemas.microsoft.com/office/powerpoint/2010/main" val="387678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D5FC6F4-79FE-4878-A2AA-1F7C5A4038B2}"/>
              </a:ext>
              <a:ext uri="{147F2762-F138-4A5C-976F-8EAC2B608ADB}">
                <a16:predDERef xmlns:a16="http://schemas.microsoft.com/office/drawing/2014/main" pred="{CCFD7DDE-18FC-40AC-8D4A-D72C0EBA5E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5685600"/>
              </p:ext>
            </p:extLst>
          </p:nvPr>
        </p:nvGraphicFramePr>
        <p:xfrm>
          <a:off x="168929" y="1238810"/>
          <a:ext cx="6953809" cy="42178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30757D8-24C5-4D59-AC21-F62F40C6190C}"/>
              </a:ext>
              <a:ext uri="{147F2762-F138-4A5C-976F-8EAC2B608ADB}">
                <a16:predDERef xmlns:a16="http://schemas.microsoft.com/office/drawing/2014/main" pred="{ED5FC6F4-79FE-4878-A2AA-1F7C5A4038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4093668"/>
              </p:ext>
            </p:extLst>
          </p:nvPr>
        </p:nvGraphicFramePr>
        <p:xfrm>
          <a:off x="7117416" y="1238810"/>
          <a:ext cx="5325035" cy="42178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28B477C-5C1E-ECDC-99A3-850140E67C11}"/>
              </a:ext>
            </a:extLst>
          </p:cNvPr>
          <p:cNvSpPr txBox="1"/>
          <p:nvPr/>
        </p:nvSpPr>
        <p:spPr>
          <a:xfrm>
            <a:off x="510909" y="560239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EFA43B-571B-5A86-F95C-ACC4254DF6E6}"/>
              </a:ext>
            </a:extLst>
          </p:cNvPr>
          <p:cNvSpPr txBox="1"/>
          <p:nvPr/>
        </p:nvSpPr>
        <p:spPr>
          <a:xfrm>
            <a:off x="722067" y="5781157"/>
            <a:ext cx="11340352" cy="3439239"/>
          </a:xfrm>
          <a:prstGeom prst="round2Diag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latin typeface="Times New Roman"/>
                <a:cs typeface="Times New Roman"/>
              </a:rPr>
              <a:t>Key Insights</a:t>
            </a:r>
          </a:p>
          <a:p>
            <a:pPr algn="ctr"/>
            <a:endParaRPr lang="en-US" sz="2800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Viewership by Day of the Week indicates that Friday  has the highest views, a staggering 75% increase from Monday.</a:t>
            </a:r>
          </a:p>
          <a:p>
            <a:pPr marL="285750" indent="-285750">
              <a:buFont typeface="Arial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Viewership is increasing from January to March, with a sharp fall to 5 view in April, it can be deduced that this view is the only point valid for this period.</a:t>
            </a:r>
          </a:p>
        </p:txBody>
      </p:sp>
    </p:spTree>
    <p:extLst>
      <p:ext uri="{BB962C8B-B14F-4D97-AF65-F5344CB8AC3E}">
        <p14:creationId xmlns:p14="http://schemas.microsoft.com/office/powerpoint/2010/main" val="2895240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inoculars looking out on island lighthouse">
            <a:extLst>
              <a:ext uri="{FF2B5EF4-FFF2-40B4-BE49-F238E27FC236}">
                <a16:creationId xmlns:a16="http://schemas.microsoft.com/office/drawing/2014/main" id="{B42FCC47-4709-4FFE-E044-75D0DAEF29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1" r="5377" b="1"/>
          <a:stretch>
            <a:fillRect/>
          </a:stretch>
        </p:blipFill>
        <p:spPr>
          <a:xfrm>
            <a:off x="-3619" y="-1"/>
            <a:ext cx="12805219" cy="963164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290231" y="1108567"/>
            <a:ext cx="4229226" cy="12816926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6567EA8-C72D-4B9B-D23F-6B2E9F9C9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618" y="0"/>
            <a:ext cx="2985571" cy="9631643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FBFA78-9360-1E01-5448-6D5AE0A3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490639" y="30430"/>
            <a:ext cx="3310505" cy="9601211"/>
          </a:xfrm>
          <a:prstGeom prst="rect">
            <a:avLst/>
          </a:prstGeom>
          <a:gradFill flip="none" rotWithShape="1">
            <a:gsLst>
              <a:gs pos="5000">
                <a:schemeClr val="accent5">
                  <a:alpha val="48000"/>
                </a:schemeClr>
              </a:gs>
              <a:gs pos="42000">
                <a:schemeClr val="accent5"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619" y="7403806"/>
            <a:ext cx="12809690" cy="222783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9000">
                <a:schemeClr val="accent2">
                  <a:alpha val="0"/>
                </a:schemeClr>
              </a:gs>
            </a:gsLst>
            <a:lin ang="588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47141" y="4067401"/>
            <a:ext cx="5413482" cy="5715002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3F15AD-FAAB-1451-DE19-48B1BB048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979" y="5770721"/>
            <a:ext cx="8324174" cy="22689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900" b="1" dirty="0">
                <a:solidFill>
                  <a:srgbClr val="FFFFFF"/>
                </a:solidFill>
                <a:latin typeface="Times New Roman"/>
                <a:cs typeface="Times New Roman"/>
              </a:rPr>
              <a:t>FACTORS AFFECTING VIEWERSHIP</a:t>
            </a:r>
          </a:p>
        </p:txBody>
      </p:sp>
    </p:spTree>
    <p:extLst>
      <p:ext uri="{BB962C8B-B14F-4D97-AF65-F5344CB8AC3E}">
        <p14:creationId xmlns:p14="http://schemas.microsoft.com/office/powerpoint/2010/main" val="3377490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C9FAA-1201-3BDB-AD4C-8BC3AEA72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VIEWS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67F0C-FF09-2192-376A-2DD70A923F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latin typeface="Times New Roman"/>
                <a:cs typeface="Times New Roman"/>
              </a:rPr>
              <a:t>Demographic &amp; Social Factors</a:t>
            </a:r>
          </a:p>
          <a:p>
            <a:r>
              <a:rPr lang="en-US" dirty="0">
                <a:latin typeface="Times New Roman"/>
                <a:cs typeface="Times New Roman"/>
              </a:rPr>
              <a:t>Age: Younger audiences often prefer streaming services over traditional TV.</a:t>
            </a:r>
          </a:p>
          <a:p>
            <a:r>
              <a:rPr lang="en-US" dirty="0">
                <a:latin typeface="Times New Roman"/>
                <a:cs typeface="Times New Roman"/>
              </a:rPr>
              <a:t>Gender: Preferences in genres like sports versus reality TV can differ between genders.</a:t>
            </a:r>
          </a:p>
          <a:p>
            <a:r>
              <a:rPr lang="en-US" dirty="0">
                <a:latin typeface="Times New Roman"/>
                <a:cs typeface="Times New Roman"/>
              </a:rPr>
              <a:t>Cultural background: Offering multilingual content can attract diverse viewers. 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16636-BF13-9A72-ED93-3B3F9A614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264" y="2555875"/>
            <a:ext cx="5656091" cy="60918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latin typeface="Times New Roman"/>
                <a:cs typeface="Times New Roman"/>
              </a:rPr>
              <a:t>External and Technological Factors</a:t>
            </a:r>
          </a:p>
          <a:p>
            <a:r>
              <a:rPr lang="en-US" dirty="0">
                <a:latin typeface="Times New Roman"/>
                <a:cs typeface="Times New Roman"/>
              </a:rPr>
              <a:t>Competition: The availability of other entertainment options, especially online content on platforms like YouTube and TikTok, can pull viewers away from linear TV.</a:t>
            </a:r>
          </a:p>
          <a:p>
            <a:r>
              <a:rPr lang="en-US" dirty="0">
                <a:latin typeface="Times New Roman"/>
                <a:cs typeface="Times New Roman"/>
              </a:rPr>
              <a:t>Streaming Platforms (OTT): The rise of over-the-top (OTT) streaming services (e.g., Netflix, Hulu, Disney+) is the primary driver of change, allowing viewers to watch content on-demand rather than at a scheduled time.</a:t>
            </a:r>
          </a:p>
          <a:p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56578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990D0A-08F2-199D-5445-CB2781951E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888" b="6248"/>
          <a:stretch>
            <a:fillRect/>
          </a:stretch>
        </p:blipFill>
        <p:spPr>
          <a:xfrm>
            <a:off x="-3619" y="-1"/>
            <a:ext cx="12805219" cy="963164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290231" y="1108567"/>
            <a:ext cx="4229226" cy="12816926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567EA8-C72D-4B9B-D23F-6B2E9F9C9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618" y="0"/>
            <a:ext cx="2985571" cy="9631643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FBFA78-9360-1E01-5448-6D5AE0A3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490639" y="30430"/>
            <a:ext cx="3310505" cy="9601211"/>
          </a:xfrm>
          <a:prstGeom prst="rect">
            <a:avLst/>
          </a:prstGeom>
          <a:gradFill flip="none" rotWithShape="1">
            <a:gsLst>
              <a:gs pos="5000">
                <a:schemeClr val="accent5">
                  <a:alpha val="48000"/>
                </a:schemeClr>
              </a:gs>
              <a:gs pos="42000">
                <a:schemeClr val="accent5"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619" y="7403806"/>
            <a:ext cx="12809690" cy="222783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9000">
                <a:schemeClr val="accent2">
                  <a:alpha val="0"/>
                </a:schemeClr>
              </a:gs>
            </a:gsLst>
            <a:lin ang="588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47141" y="4067401"/>
            <a:ext cx="5413482" cy="5715002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D487B5-79A1-C47D-47EB-85702D869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979" y="5770721"/>
            <a:ext cx="8324174" cy="22689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900" b="1" dirty="0">
                <a:solidFill>
                  <a:srgbClr val="FFFFFF"/>
                </a:solidFill>
                <a:latin typeface="Times New Roman"/>
                <a:cs typeface="Times New Roman"/>
              </a:rPr>
              <a:t>STRATEGIC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914319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801600" cy="96012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798399" cy="96012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80738" y="2680736"/>
            <a:ext cx="9601200" cy="4239728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80739" y="2694928"/>
            <a:ext cx="9601199" cy="423973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68473" y="5729941"/>
            <a:ext cx="3502771" cy="4239733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26823" y="1357605"/>
            <a:ext cx="4095374" cy="5850541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80748" y="2666541"/>
            <a:ext cx="9601204" cy="423972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F30BC3-A7F2-08E4-E0F6-3695763B1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058" y="821597"/>
            <a:ext cx="3361434" cy="4742495"/>
          </a:xfrm>
        </p:spPr>
        <p:txBody>
          <a:bodyPr anchor="b">
            <a:normAutofit/>
          </a:bodyPr>
          <a:lstStyle/>
          <a:p>
            <a:pPr algn="r"/>
            <a:r>
              <a:rPr lang="en-US" sz="2300" b="1">
                <a:solidFill>
                  <a:srgbClr val="FFFFFF"/>
                </a:solidFill>
                <a:latin typeface="Times New Roman"/>
                <a:cs typeface="Times New Roman"/>
              </a:rPr>
              <a:t>KEY STRATEGIC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B383E-9226-102D-9285-DC1A1D479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0771" y="909272"/>
            <a:ext cx="6883115" cy="77644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/>
              <a:t> </a:t>
            </a:r>
          </a:p>
          <a:p>
            <a:pPr marL="0" indent="0">
              <a:buNone/>
            </a:pPr>
            <a:r>
              <a:rPr lang="en-US" sz="2000" b="1">
                <a:latin typeface="Times New Roman"/>
                <a:cs typeface="Times New Roman"/>
              </a:rPr>
              <a:t>Content and Programming Strategies</a:t>
            </a:r>
            <a:endParaRPr lang="en-US" sz="2000"/>
          </a:p>
          <a:p>
            <a:r>
              <a:rPr lang="en-US" sz="2000">
                <a:latin typeface="Times New Roman"/>
                <a:cs typeface="Times New Roman"/>
              </a:rPr>
              <a:t> Utilize Influencer Collaborations: Partner with social media influencers to promote content. This can help reach wider and more niche audiences through established digital personalities.</a:t>
            </a:r>
          </a:p>
          <a:p>
            <a:pPr marL="0" indent="0">
              <a:buNone/>
            </a:pPr>
            <a:endParaRPr lang="en-US" sz="2000" b="1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 b="1">
                <a:latin typeface="Times New Roman"/>
                <a:cs typeface="Times New Roman"/>
              </a:rPr>
              <a:t>Platform and Distribution Strategies</a:t>
            </a:r>
            <a:endParaRPr lang="en-US" sz="2000"/>
          </a:p>
          <a:p>
            <a:r>
              <a:rPr lang="en-US" sz="2000">
                <a:latin typeface="Times New Roman"/>
                <a:cs typeface="Times New Roman"/>
              </a:rPr>
              <a:t>Embrace a Hybrid Distribution Model: Offer content across various platforms, including traditional linear TV, subscription-based (SVOD), and ad-supported video on demand (AVOD) tiers, to maximize reach and revenue streams.</a:t>
            </a:r>
          </a:p>
          <a:p>
            <a:pPr marL="0" indent="0">
              <a:buNone/>
            </a:pPr>
            <a:endParaRPr lang="en-US" sz="2000" b="1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000" b="1">
                <a:latin typeface="Times New Roman"/>
                <a:cs typeface="Times New Roman"/>
              </a:rPr>
              <a:t>Measurement and Optimization</a:t>
            </a:r>
            <a:endParaRPr lang="en-US" sz="2000"/>
          </a:p>
          <a:p>
            <a:r>
              <a:rPr lang="en-US" sz="2000">
                <a:latin typeface="Times New Roman"/>
                <a:cs typeface="Times New Roman"/>
              </a:rPr>
              <a:t>Stay Updated with Trends: The TV and streaming landscape is dynamic. Continuously monitor industry trends, technological advancements (like AI in ad optimization), and shifting consumer preferences to keep strategies relevant. </a:t>
            </a:r>
          </a:p>
          <a:p>
            <a:pPr marL="0" indent="0">
              <a:buNone/>
            </a:pPr>
            <a:endParaRPr lang="en-US" sz="2000">
              <a:latin typeface="Times New Roman"/>
              <a:cs typeface="Times New Roman"/>
            </a:endParaRPr>
          </a:p>
          <a:p>
            <a:pPr marL="0" indent="0">
              <a:buNone/>
            </a:pPr>
            <a:br>
              <a:rPr lang="en-US" sz="2000"/>
            </a:b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617995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5555856-9970-4BC3-9AA9-6A917F53A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2137" y="1571222"/>
            <a:ext cx="7519141" cy="8029976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F487851-BFAF-46D8-A1ED-50CAD6E46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325"/>
          <a:stretch/>
        </p:blipFill>
        <p:spPr>
          <a:xfrm flipH="1">
            <a:off x="0" y="1571221"/>
            <a:ext cx="12801600" cy="80507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258C7A-AFB9-7931-62D5-28ECE326D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21" y="5681375"/>
            <a:ext cx="5046296" cy="13619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600" b="1" kern="1200" dirty="0">
                <a:solidFill>
                  <a:srgbClr val="000000"/>
                </a:solidFill>
                <a:latin typeface="Times New Roman"/>
                <a:cs typeface="Times New Roman"/>
              </a:rPr>
              <a:t>THANK YOU!!!</a:t>
            </a:r>
          </a:p>
        </p:txBody>
      </p:sp>
      <p:sp>
        <p:nvSpPr>
          <p:cNvPr id="23" name="Freeform 50">
            <a:extLst>
              <a:ext uri="{FF2B5EF4-FFF2-40B4-BE49-F238E27FC236}">
                <a16:creationId xmlns:a16="http://schemas.microsoft.com/office/drawing/2014/main" id="{13722DD7-BA73-4776-93A3-94491FEF7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2817" y="2251697"/>
            <a:ext cx="6398783" cy="7349503"/>
          </a:xfrm>
          <a:custGeom>
            <a:avLst/>
            <a:gdLst>
              <a:gd name="connsiteX0" fmla="*/ 3299930 w 5464879"/>
              <a:gd name="connsiteY0" fmla="*/ 0 h 6276841"/>
              <a:gd name="connsiteX1" fmla="*/ 5398992 w 5464879"/>
              <a:gd name="connsiteY1" fmla="*/ 753544 h 6276841"/>
              <a:gd name="connsiteX2" fmla="*/ 5464879 w 5464879"/>
              <a:gd name="connsiteY2" fmla="*/ 813426 h 6276841"/>
              <a:gd name="connsiteX3" fmla="*/ 5464879 w 5464879"/>
              <a:gd name="connsiteY3" fmla="*/ 5786434 h 6276841"/>
              <a:gd name="connsiteX4" fmla="*/ 5398992 w 5464879"/>
              <a:gd name="connsiteY4" fmla="*/ 5846317 h 6276841"/>
              <a:gd name="connsiteX5" fmla="*/ 4872873 w 5464879"/>
              <a:gd name="connsiteY5" fmla="*/ 6201577 h 6276841"/>
              <a:gd name="connsiteX6" fmla="*/ 4716632 w 5464879"/>
              <a:gd name="connsiteY6" fmla="*/ 6276841 h 6276841"/>
              <a:gd name="connsiteX7" fmla="*/ 1883227 w 5464879"/>
              <a:gd name="connsiteY7" fmla="*/ 6276841 h 6276841"/>
              <a:gd name="connsiteX8" fmla="*/ 1726987 w 5464879"/>
              <a:gd name="connsiteY8" fmla="*/ 6201577 h 6276841"/>
              <a:gd name="connsiteX9" fmla="*/ 0 w 5464879"/>
              <a:gd name="connsiteY9" fmla="*/ 3299930 h 6276841"/>
              <a:gd name="connsiteX10" fmla="*/ 3299930 w 5464879"/>
              <a:gd name="connsiteY10" fmla="*/ 0 h 6276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64879" h="6276841">
                <a:moveTo>
                  <a:pt x="3299930" y="0"/>
                </a:moveTo>
                <a:cubicBezTo>
                  <a:pt x="4097274" y="0"/>
                  <a:pt x="4828569" y="282789"/>
                  <a:pt x="5398992" y="753544"/>
                </a:cubicBezTo>
                <a:lnTo>
                  <a:pt x="5464879" y="813426"/>
                </a:lnTo>
                <a:lnTo>
                  <a:pt x="5464879" y="5786434"/>
                </a:lnTo>
                <a:lnTo>
                  <a:pt x="5398992" y="5846317"/>
                </a:lnTo>
                <a:cubicBezTo>
                  <a:pt x="5236014" y="5980818"/>
                  <a:pt x="5059904" y="6099975"/>
                  <a:pt x="4872873" y="6201577"/>
                </a:cubicBezTo>
                <a:lnTo>
                  <a:pt x="4716632" y="6276841"/>
                </a:lnTo>
                <a:lnTo>
                  <a:pt x="1883227" y="6276841"/>
                </a:lnTo>
                <a:lnTo>
                  <a:pt x="1726987" y="6201577"/>
                </a:lnTo>
                <a:cubicBezTo>
                  <a:pt x="698316" y="5642769"/>
                  <a:pt x="0" y="4552900"/>
                  <a:pt x="0" y="3299930"/>
                </a:cubicBezTo>
                <a:cubicBezTo>
                  <a:pt x="0" y="1477429"/>
                  <a:pt x="1477429" y="0"/>
                  <a:pt x="3299930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373B5B3B-9C23-E31B-8060-A0175CB4A5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4553" y="3791410"/>
            <a:ext cx="4849554" cy="484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816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A3 Paper (297x420 mm)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BRIGHT TV VIEWERSHIP ANALYSIS</vt:lpstr>
      <vt:lpstr>AGENDA</vt:lpstr>
      <vt:lpstr>BRIGHT TV SUMMARY</vt:lpstr>
      <vt:lpstr>APPROACH</vt:lpstr>
      <vt:lpstr>DEMOGRAPHIC ANALYSIS</vt:lpstr>
      <vt:lpstr>PowerPoint Presentation</vt:lpstr>
      <vt:lpstr>PowerPoint Presentation</vt:lpstr>
      <vt:lpstr>CHANNEL ANALYSIS</vt:lpstr>
      <vt:lpstr>PowerPoint Presentation</vt:lpstr>
      <vt:lpstr>TREND ANALYSIS</vt:lpstr>
      <vt:lpstr>PowerPoint Presentation</vt:lpstr>
      <vt:lpstr>FACTORS AFFECTING VIEWERSHIP</vt:lpstr>
      <vt:lpstr>VIEWS FACTORS</vt:lpstr>
      <vt:lpstr>STRATEGIC RECOMMENDATIONS</vt:lpstr>
      <vt:lpstr>KEY STRATEGIC RECOMMENDATIONS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511</cp:revision>
  <dcterms:created xsi:type="dcterms:W3CDTF">2025-11-15T15:58:26Z</dcterms:created>
  <dcterms:modified xsi:type="dcterms:W3CDTF">2025-11-25T09:09:08Z</dcterms:modified>
</cp:coreProperties>
</file>